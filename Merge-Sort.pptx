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Unbounded Light" panose="020B0604020202020204" charset="0"/>
      <p:regular r:id="rId17"/>
    </p:embeddedFont>
    <p:embeddedFont>
      <p:font typeface="Ysabeau Office"/>
      <p:regular r:id="rId18"/>
    </p:embeddedFont>
    <p:embeddedFont>
      <p:font typeface="Ysabeau Office Bold" panose="020B0604020202020204" charset="0"/>
      <p:regular r:id="rId19"/>
    </p:embeddedFont>
    <p:embeddedFont>
      <p:font typeface="Ysabeau Office Medium"/>
      <p:regular r:id="rId20"/>
    </p:embeddedFont>
    <p:embeddedFont>
      <p:font typeface="Ysabeau Office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1846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will see how Merge Sort turns an unsorted array into a sorted array by repeatedly dividing the problem and then merging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Sorting is useful because many later operations become simpler when values follow a known order. Merge Sort is designed for large collections.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moves define Merge Sort. Divide creates manageable pieces, conquer sorts them recursively, and combine produces the final ordered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important feature is repetition: every smaller problem has the same shape as the original problem. The algorithm keeps applying the same idea until the pieces are easy to handle.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that the right half contains three values, so the split is not perfectly balanced at the bottom. That is valid. The process stops when each subarray contains one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 pieces are sorted, merging is a controlled comparison. Look only at the front of each subarray, copy the smaller value, and continue until every value has moved to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recursive calls go down before the merge happens. When both halves return sorted, MERGE combines them into one sorted section as the recursion unwinds.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predictable time comes from the structure of the algorithm. There are about log₂(n) levels, and each level performs O(n) total merge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Sort is a strong choice when predictable performance and stability matter. The main cost is extra memory for standard array-based implementations.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 the three actions: divide, recursively sort, and merge. Emphasize the predictable O(n log n) time, stability, and the extra memory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E0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620">
              <a:alpha val="5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E0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620">
              <a:alpha val="3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1E0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314" y="1003300"/>
            <a:ext cx="6603835" cy="4851400"/>
          </a:xfrm>
          <a:prstGeom prst="roundRect">
            <a:avLst>
              <a:gd name="adj" fmla="val 2513"/>
            </a:avLst>
          </a:prstGeom>
          <a:solidFill>
            <a:srgbClr val="0D0620"/>
          </a:solidFill>
          <a:ln/>
        </p:spPr>
      </p:sp>
      <p:sp>
        <p:nvSpPr>
          <p:cNvPr id="3" name="Text 1"/>
          <p:cNvSpPr/>
          <p:nvPr/>
        </p:nvSpPr>
        <p:spPr>
          <a:xfrm>
            <a:off x="1442704" y="1367155"/>
            <a:ext cx="640064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FFFFFF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DESIGN AND ANALYSIS OF ALGORITHMS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442704" y="1740631"/>
            <a:ext cx="5791055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8000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Merge Sort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442704" y="3986510"/>
            <a:ext cx="6400640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 Divide and Conquer Sorting Algorithm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42704" y="4578648"/>
            <a:ext cx="3879852" cy="31651"/>
          </a:xfrm>
          <a:prstGeom prst="roundRect">
            <a:avLst>
              <a:gd name="adj" fmla="val 49998"/>
            </a:avLst>
          </a:prstGeom>
          <a:solidFill>
            <a:srgbClr val="CDB8DA"/>
          </a:solidFill>
          <a:ln/>
        </p:spPr>
      </p:sp>
      <p:sp>
        <p:nvSpPr>
          <p:cNvPr id="7" name="Text 5"/>
          <p:cNvSpPr/>
          <p:nvPr/>
        </p:nvSpPr>
        <p:spPr>
          <a:xfrm>
            <a:off x="1442704" y="4837410"/>
            <a:ext cx="5791055" cy="623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300" kern="100" spc="26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Aarnav Sahu 3-B </a:t>
            </a:r>
            <a:r>
              <a:rPr lang="en-US" sz="1300" kern="100" spc="26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· 25070521072</a:t>
            </a:r>
            <a:endParaRPr lang="en-US" sz="13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Unsorted array → sorted array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760462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FFFFFF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WHY SORT?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6995045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Sorting turns scattered data into useful order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914889"/>
            <a:ext cx="699504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An ordering rule makes the next operation easier.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2351980"/>
            <a:ext cx="3345076" cy="1795760"/>
          </a:xfrm>
          <a:prstGeom prst="rect">
            <a:avLst/>
          </a:prstGeom>
          <a:solidFill>
            <a:srgbClr val="4F408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580588"/>
            <a:ext cx="507987" cy="50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49361" y="2595820"/>
            <a:ext cx="217670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Arrange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49361" y="2969776"/>
            <a:ext cx="217670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Sorting arranges values according to a rule, such as smallest to largest.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259454" y="2351980"/>
            <a:ext cx="3345176" cy="1795760"/>
          </a:xfrm>
          <a:prstGeom prst="rect">
            <a:avLst/>
          </a:prstGeom>
          <a:solidFill>
            <a:srgbClr val="4F408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8048" y="2580588"/>
            <a:ext cx="507987" cy="508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99230" y="2595820"/>
            <a:ext cx="217680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Find faster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199230" y="2969776"/>
            <a:ext cx="2176805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It makes searching, comparing, and analyzing data easier.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09585" y="4452541"/>
            <a:ext cx="3345076" cy="1795859"/>
          </a:xfrm>
          <a:prstGeom prst="rect">
            <a:avLst/>
          </a:prstGeom>
          <a:solidFill>
            <a:srgbClr val="4F408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79" y="4681148"/>
            <a:ext cx="507987" cy="5080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49361" y="4696381"/>
            <a:ext cx="217670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549361" y="5070336"/>
            <a:ext cx="2176706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Examples: marks, student records, and product prices.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259454" y="4452541"/>
            <a:ext cx="3345176" cy="1795859"/>
          </a:xfrm>
          <a:prstGeom prst="rect">
            <a:avLst/>
          </a:prstGeom>
          <a:solidFill>
            <a:srgbClr val="4F4086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8048" y="4681148"/>
            <a:ext cx="507987" cy="508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199230" y="4696381"/>
            <a:ext cx="217680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Scale up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199230" y="5070336"/>
            <a:ext cx="2176805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Merge Sort is an efficient algorithm for sorting large collections.</a:t>
            </a:r>
            <a:endParaRPr lang="en-US" sz="16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1992" y="137021"/>
            <a:ext cx="3238816" cy="6583660"/>
          </a:xfrm>
          <a:prstGeom prst="rect">
            <a:avLst/>
          </a:prstGeom>
        </p:spPr>
      </p:pic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71303" y="0"/>
            <a:ext cx="352039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Merge Sort solves one large problem in three moves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923355"/>
            <a:ext cx="3454314" cy="2256532"/>
          </a:xfrm>
          <a:prstGeom prst="rect">
            <a:avLst/>
          </a:prstGeom>
          <a:solidFill>
            <a:srgbClr val="0D062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151955"/>
            <a:ext cx="82180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38179" y="2436416"/>
            <a:ext cx="2997125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7" name="Text 5"/>
          <p:cNvSpPr/>
          <p:nvPr/>
        </p:nvSpPr>
        <p:spPr>
          <a:xfrm>
            <a:off x="838179" y="2587890"/>
            <a:ext cx="2997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Divide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38179" y="3027521"/>
            <a:ext cx="322571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Split the array into smaller halves.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179" y="3440053"/>
            <a:ext cx="322571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Large array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8691" y="1923355"/>
            <a:ext cx="3454314" cy="2256532"/>
          </a:xfrm>
          <a:prstGeom prst="rect">
            <a:avLst/>
          </a:prstGeom>
          <a:solidFill>
            <a:srgbClr val="B796C6"/>
          </a:solidFill>
          <a:ln/>
        </p:spPr>
      </p:sp>
      <p:sp>
        <p:nvSpPr>
          <p:cNvPr id="11" name="Text 9"/>
          <p:cNvSpPr/>
          <p:nvPr/>
        </p:nvSpPr>
        <p:spPr>
          <a:xfrm>
            <a:off x="4597285" y="2151955"/>
            <a:ext cx="82180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100" spc="8" dirty="0">
                <a:solidFill>
                  <a:srgbClr val="00000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97285" y="2436416"/>
            <a:ext cx="2997125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13" name="Text 11"/>
          <p:cNvSpPr/>
          <p:nvPr/>
        </p:nvSpPr>
        <p:spPr>
          <a:xfrm>
            <a:off x="4597285" y="2587890"/>
            <a:ext cx="2997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00000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Conquer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7285" y="3027521"/>
            <a:ext cx="322571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000000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Recursively sort each half.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7285" y="3440053"/>
            <a:ext cx="322571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000000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Smaller problems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7797" y="1923355"/>
            <a:ext cx="3454314" cy="2256532"/>
          </a:xfrm>
          <a:prstGeom prst="rect">
            <a:avLst/>
          </a:prstGeom>
          <a:solidFill>
            <a:srgbClr val="4F4086"/>
          </a:solidFill>
          <a:ln/>
        </p:spPr>
      </p:sp>
      <p:sp>
        <p:nvSpPr>
          <p:cNvPr id="17" name="Text 15"/>
          <p:cNvSpPr/>
          <p:nvPr/>
        </p:nvSpPr>
        <p:spPr>
          <a:xfrm>
            <a:off x="8356391" y="2151955"/>
            <a:ext cx="82180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56391" y="2436416"/>
            <a:ext cx="2997125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19" name="Text 17"/>
          <p:cNvSpPr/>
          <p:nvPr/>
        </p:nvSpPr>
        <p:spPr>
          <a:xfrm>
            <a:off x="8356391" y="2587890"/>
            <a:ext cx="299712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Combine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56391" y="3027521"/>
            <a:ext cx="299712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Merge the sorted halves into one sorted array.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56391" y="3734633"/>
            <a:ext cx="3225719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One sorted result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9585" y="4363879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CDB8DA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Divide → recursive sorting → Merge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564887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DIVIDE AND CONQUER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5039293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Divide and Conquer reduces complexity step by step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337356"/>
            <a:ext cx="5039293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Break a large problem into smaller versions of the same problem, solve them separately, then combine the results.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3101777"/>
            <a:ext cx="5039293" cy="9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kern="100" spc="8" dirty="0">
                <a:solidFill>
                  <a:srgbClr val="F1E9F6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-120"/>
              </a:rPr>
              <a:t>Divide:</a:t>
            </a: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 split the array.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kern="100" spc="8" dirty="0">
                <a:solidFill>
                  <a:srgbClr val="F1E9F6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-120"/>
              </a:rPr>
              <a:t>Conquer:</a:t>
            </a: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 sort each smaller subarray.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kern="100" spc="8" dirty="0">
                <a:solidFill>
                  <a:srgbClr val="F1E9F6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-120"/>
              </a:rPr>
              <a:t>Combine:</a:t>
            </a: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 merge two sorted subarrays.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9585" y="4264918"/>
            <a:ext cx="5039293" cy="1356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350"/>
              </a:spcAft>
              <a:buNone/>
            </a:pPr>
            <a:r>
              <a:rPr lang="en-US" sz="1600" b="1" kern="100" spc="8" dirty="0">
                <a:solidFill>
                  <a:srgbClr val="F1E9F6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-120"/>
              </a:rPr>
              <a:t>Sorting</a:t>
            </a: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 puts items in a chosen order, such as smallest to largest.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b="1" kern="100" spc="8" dirty="0">
                <a:solidFill>
                  <a:srgbClr val="F1E9F6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-120"/>
              </a:rPr>
              <a:t>Before:</a:t>
            </a: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 38, 27, 43, 3, 9, 82, 10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b="1" kern="100" spc="8" dirty="0">
                <a:solidFill>
                  <a:srgbClr val="F1E9F6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-120"/>
              </a:rPr>
              <a:t>After:</a:t>
            </a: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 3, 9, 10, 27, 38, 43, 82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25137" y="612140"/>
            <a:ext cx="4866558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Sorted data helps with: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25137" y="1081980"/>
            <a:ext cx="4256973" cy="1869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kern="100" spc="8" dirty="0">
                <a:solidFill>
                  <a:srgbClr val="F1E9F6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-120"/>
              </a:rPr>
              <a:t>Searching:</a:t>
            </a: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 binary search finds an item quickly.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kern="100" spc="8" dirty="0">
                <a:solidFill>
                  <a:srgbClr val="F1E9F6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-120"/>
              </a:rPr>
              <a:t>Ranking:</a:t>
            </a: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 top scores or best results appear first.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b="1" kern="100" spc="8" dirty="0">
                <a:solidFill>
                  <a:srgbClr val="F1E9F6"/>
                </a:solidFill>
                <a:latin typeface="Ysabeau Office Bold" pitchFamily="34" charset="0"/>
                <a:ea typeface="Ysabeau Office Bold" pitchFamily="34" charset="-122"/>
                <a:cs typeface="Ysabeau Office Bold" pitchFamily="34" charset="-120"/>
              </a:rPr>
              <a:t>Organizing:</a:t>
            </a: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 records, such as students by roll number, stay in order.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137" y="3128863"/>
            <a:ext cx="507987" cy="508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20286" y="3144103"/>
            <a:ext cx="31618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Divide</a:t>
            </a:r>
            <a:endParaRPr lang="en-US" sz="1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5137" y="3941663"/>
            <a:ext cx="507987" cy="508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20286" y="3956903"/>
            <a:ext cx="31618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Conquer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5137" y="4754463"/>
            <a:ext cx="507987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20286" y="4769703"/>
            <a:ext cx="31618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Combine</a:t>
            </a:r>
            <a:endParaRPr lang="en-US" sz="16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5137" y="5567263"/>
            <a:ext cx="507987" cy="508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20286" y="5582503"/>
            <a:ext cx="316182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Sorted result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408423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WORKED EXAMPLE · SPLIT PHASE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3474653" cy="164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Example: keep splitting until every item stands alone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746276"/>
            <a:ext cx="3474653" cy="212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350"/>
              </a:spcAft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Start with </a:t>
            </a:r>
            <a:r>
              <a:rPr lang="en-US" sz="1600" kern="100" spc="8" dirty="0">
                <a:solidFill>
                  <a:srgbClr val="F1E9F6"/>
                </a:solidFill>
                <a:highlight>
                  <a:srgbClr val="2A1A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[38, 27, 43, 3, 9, 82, 10]</a:t>
            </a:r>
            <a:endParaRPr lang="en-US" sz="1600" dirty="0"/>
          </a:p>
          <a:p>
            <a:pPr marL="0" indent="0" algn="l">
              <a:lnSpc>
                <a:spcPct val="121000"/>
              </a:lnSpc>
              <a:spcAft>
                <a:spcPts val="1350"/>
              </a:spcAft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Split level 1: [38, 27, 43, 3] and [9, 82, 10]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Continue in original order: [38, 27] [43, 3] [9, 82] [10] → [38] [27] [43] [3] [9] [82] [10]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9585" y="5053350"/>
            <a:ext cx="4084238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CDB8DA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Stop when each subarray contains one element.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2488" y="137021"/>
            <a:ext cx="6477532" cy="65836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497" y="1791593"/>
            <a:ext cx="5821614" cy="3274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WORKED EXAMPLE · MERGE PHASE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Example: merge the smallest available values first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925896"/>
            <a:ext cx="11582110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Compare the front elements of two sorted subarrays and copy the smaller value.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395736"/>
            <a:ext cx="2590735" cy="2298502"/>
          </a:xfrm>
          <a:prstGeom prst="rect">
            <a:avLst/>
          </a:prstGeom>
          <a:solidFill>
            <a:srgbClr val="0D0620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624336"/>
            <a:ext cx="82180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179" y="2908796"/>
            <a:ext cx="2133547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8" name="Text 6"/>
          <p:cNvSpPr/>
          <p:nvPr/>
        </p:nvSpPr>
        <p:spPr>
          <a:xfrm>
            <a:off x="838179" y="3022461"/>
            <a:ext cx="213354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Pairs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8179" y="3393877"/>
            <a:ext cx="2133547" cy="70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600" kern="100" spc="8" dirty="0">
                <a:solidFill>
                  <a:srgbClr val="FFFFFF"/>
                </a:solidFill>
                <a:highlight>
                  <a:srgbClr val="2A1A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[27, 38]</a:t>
            </a: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 · </a:t>
            </a:r>
            <a:r>
              <a:rPr lang="en-US" sz="1600" kern="100" spc="8" dirty="0">
                <a:solidFill>
                  <a:srgbClr val="FFFFFF"/>
                </a:solidFill>
                <a:highlight>
                  <a:srgbClr val="2A1A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[3, 43]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highlight>
                  <a:srgbClr val="2A1A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[9, 82]</a:t>
            </a: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 · </a:t>
            </a:r>
            <a:r>
              <a:rPr lang="en-US" sz="1600" kern="100" spc="8" dirty="0">
                <a:solidFill>
                  <a:srgbClr val="FFFFFF"/>
                </a:solidFill>
                <a:highlight>
                  <a:srgbClr val="2A1A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[10]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05112" y="2395736"/>
            <a:ext cx="2590735" cy="2298502"/>
          </a:xfrm>
          <a:prstGeom prst="rect">
            <a:avLst/>
          </a:prstGeom>
          <a:solidFill>
            <a:srgbClr val="B796C6"/>
          </a:solidFill>
          <a:ln/>
        </p:spPr>
      </p:sp>
      <p:sp>
        <p:nvSpPr>
          <p:cNvPr id="11" name="Text 9"/>
          <p:cNvSpPr/>
          <p:nvPr/>
        </p:nvSpPr>
        <p:spPr>
          <a:xfrm>
            <a:off x="3733707" y="2624336"/>
            <a:ext cx="82180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100" spc="8" dirty="0">
                <a:solidFill>
                  <a:srgbClr val="00000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33707" y="2908796"/>
            <a:ext cx="2133547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13" name="Text 11"/>
          <p:cNvSpPr/>
          <p:nvPr/>
        </p:nvSpPr>
        <p:spPr>
          <a:xfrm>
            <a:off x="3733707" y="3022461"/>
            <a:ext cx="2133547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000000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Next level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33707" y="3393877"/>
            <a:ext cx="2133547" cy="703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600" kern="100" spc="8" dirty="0">
                <a:solidFill>
                  <a:srgbClr val="000000"/>
                </a:solidFill>
                <a:highlight>
                  <a:srgbClr val="2A1A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[3, 27, 38, 43]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000000"/>
                </a:solidFill>
                <a:highlight>
                  <a:srgbClr val="2A1A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[9, 10, 82]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640" y="2395736"/>
            <a:ext cx="5181470" cy="2298502"/>
          </a:xfrm>
          <a:prstGeom prst="rect">
            <a:avLst/>
          </a:prstGeom>
          <a:solidFill>
            <a:srgbClr val="C53C69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234" y="2624336"/>
            <a:ext cx="821808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9234" y="2908796"/>
            <a:ext cx="4724282" cy="19050"/>
          </a:xfrm>
          <a:prstGeom prst="rect">
            <a:avLst/>
          </a:prstGeom>
          <a:solidFill>
            <a:srgbClr val="1E0E3F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234" y="3022461"/>
            <a:ext cx="4724282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Final merge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9234" y="3397051"/>
            <a:ext cx="4952876" cy="36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kern="100" spc="8" dirty="0">
                <a:solidFill>
                  <a:srgbClr val="FFFFFF"/>
                </a:solidFill>
                <a:highlight>
                  <a:srgbClr val="2A1A5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[3, 9, 10, 27, 38, 43, 82]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629234" y="3879017"/>
            <a:ext cx="4724282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At each comparison, the smaller front value moves to the output.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585" y="4921250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1E0E3F"/>
          </a:solidFill>
          <a:ln/>
        </p:spPr>
      </p:sp>
      <p:sp>
        <p:nvSpPr>
          <p:cNvPr id="22" name="Text 20"/>
          <p:cNvSpPr/>
          <p:nvPr/>
        </p:nvSpPr>
        <p:spPr>
          <a:xfrm>
            <a:off x="609585" y="5186204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CDB8DA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Smallest available value → output array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Algorithm: recurse, then merge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511895"/>
            <a:ext cx="5958631" cy="3067844"/>
          </a:xfrm>
          <a:prstGeom prst="rect">
            <a:avLst/>
          </a:prstGeom>
          <a:solidFill>
            <a:srgbClr val="2A1A55"/>
          </a:solidFill>
          <a:ln/>
        </p:spPr>
      </p:sp>
      <p:sp>
        <p:nvSpPr>
          <p:cNvPr id="5" name="Shape 3"/>
          <p:cNvSpPr/>
          <p:nvPr/>
        </p:nvSpPr>
        <p:spPr>
          <a:xfrm>
            <a:off x="863578" y="1892895"/>
            <a:ext cx="5450644" cy="2356644"/>
          </a:xfrm>
          <a:prstGeom prst="roundRect">
            <a:avLst>
              <a:gd name="adj" fmla="val 7760"/>
            </a:avLst>
          </a:prstGeom>
          <a:solidFill>
            <a:srgbClr val="2A1A55"/>
          </a:solidFill>
          <a:ln/>
        </p:spPr>
      </p:sp>
      <p:sp>
        <p:nvSpPr>
          <p:cNvPr id="6" name="Text 4"/>
          <p:cNvSpPr/>
          <p:nvPr/>
        </p:nvSpPr>
        <p:spPr>
          <a:xfrm>
            <a:off x="1107353" y="2096095"/>
            <a:ext cx="4963095" cy="19502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kern="100" spc="8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MERGE_SORT(array, left, right)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100" spc="8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left &lt; right: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100" spc="8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mid = floor((left + right) / 2)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100" spc="8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MERGE_SORT(array, left, mid)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100" spc="8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MERGE_SORT(array, mid + 1, right)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kern="100" spc="8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MERGE(array, left, mid, right)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25305" y="1527135"/>
            <a:ext cx="455680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Check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25305" y="1901091"/>
            <a:ext cx="455680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If left &lt; right, continue.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25305" y="2600484"/>
            <a:ext cx="455680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Recurse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25305" y="2974439"/>
            <a:ext cx="455680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Sort the left and right halves.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25305" y="3673931"/>
            <a:ext cx="4556805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Return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25305" y="4047887"/>
            <a:ext cx="4556805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Merge the sorted sections upward.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585" y="4763730"/>
            <a:ext cx="11582110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kern="100" spc="26" dirty="0">
                <a:solidFill>
                  <a:srgbClr val="CDB8DA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MERGE combines two already-sorted subarrays into one sorted section.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87" y="363855"/>
            <a:ext cx="1165830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COMPLEXITY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3387" y="678160"/>
            <a:ext cx="1112492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Merge Sort keeps the same O(n log n) time in every case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1897955"/>
          <a:ext cx="6578436" cy="914400"/>
        </p:xfrm>
        <a:graphic>
          <a:graphicData uri="http://schemas.openxmlformats.org/drawingml/2006/table">
            <a:tbl>
              <a:tblPr/>
              <a:tblGrid>
                <a:gridCol w="2302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1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78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Case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Time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FFFFFF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Meaning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3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Best case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O(n log n)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Same split and merge structure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3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Average case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O(n log n)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Same split and merge structure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3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Worst case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O(n log n)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Same split and merge structure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16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Auxiliary space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O(n)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kern="100" spc="8" dirty="0">
                          <a:solidFill>
                            <a:srgbClr val="F1E9F6"/>
                          </a:solidFill>
                          <a:latin typeface="Ysabeau Office" pitchFamily="34" charset="0"/>
                          <a:ea typeface="Ysabeau Office" pitchFamily="34" charset="-122"/>
                          <a:cs typeface="Ysabeau Office" pitchFamily="34" charset="-120"/>
                        </a:rPr>
                        <a:t>Standard array-based implementation</a:t>
                      </a:r>
                      <a:endParaRPr lang="en-US" sz="1600" dirty="0">
                        <a:latin typeface="Ysabeau Office" charset="0"/>
                        <a:ea typeface="Ysabeau Office" charset="0"/>
                        <a:cs typeface="Ysabeau Office" charset="0"/>
                      </a:endParaRPr>
                    </a:p>
                  </a:txBody>
                  <a:tcPr marL="152396" marR="152396" marT="81278" marB="8127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33387" y="2355045"/>
            <a:ext cx="6578435" cy="12700"/>
          </a:xfrm>
          <a:prstGeom prst="rect">
            <a:avLst/>
          </a:prstGeom>
          <a:solidFill>
            <a:srgbClr val="B796C6">
              <a:alpha val="32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33387" y="3119407"/>
            <a:ext cx="6578435" cy="12700"/>
          </a:xfrm>
          <a:prstGeom prst="rect">
            <a:avLst/>
          </a:prstGeom>
          <a:solidFill>
            <a:srgbClr val="B796C6">
              <a:alpha val="3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533387" y="3883769"/>
            <a:ext cx="6578435" cy="12700"/>
          </a:xfrm>
          <a:prstGeom prst="rect">
            <a:avLst/>
          </a:prstGeom>
          <a:solidFill>
            <a:srgbClr val="B796C6">
              <a:alpha val="3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3387" y="4648131"/>
            <a:ext cx="6578435" cy="12700"/>
          </a:xfrm>
          <a:prstGeom prst="rect">
            <a:avLst/>
          </a:prstGeom>
          <a:solidFill>
            <a:srgbClr val="B796C6">
              <a:alpha val="32000"/>
            </a:srgbClr>
          </a:solidFill>
          <a:ln/>
        </p:spPr>
      </p:sp>
      <p:sp>
        <p:nvSpPr>
          <p:cNvPr id="4" name="Shape 6"/>
          <p:cNvSpPr/>
          <p:nvPr/>
        </p:nvSpPr>
        <p:spPr>
          <a:xfrm>
            <a:off x="7568911" y="1669355"/>
            <a:ext cx="4089397" cy="3971826"/>
          </a:xfrm>
          <a:prstGeom prst="rect">
            <a:avLst/>
          </a:prstGeom>
          <a:solidFill>
            <a:srgbClr val="0D0620"/>
          </a:solidFill>
          <a:ln/>
        </p:spPr>
      </p:sp>
      <p:sp>
        <p:nvSpPr>
          <p:cNvPr id="10" name="Text 7"/>
          <p:cNvSpPr/>
          <p:nvPr/>
        </p:nvSpPr>
        <p:spPr>
          <a:xfrm>
            <a:off x="7822905" y="1908539"/>
            <a:ext cx="358141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Why?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822905" y="2348171"/>
            <a:ext cx="3581410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About log₂(n) split levels × O(n) total merge work per level.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822905" y="3098304"/>
            <a:ext cx="3581310" cy="31651"/>
          </a:xfrm>
          <a:prstGeom prst="roundRect">
            <a:avLst>
              <a:gd name="adj" fmla="val 49998"/>
            </a:avLst>
          </a:prstGeom>
          <a:solidFill>
            <a:srgbClr val="F1E9F6"/>
          </a:solidFill>
          <a:ln/>
        </p:spPr>
      </p:sp>
      <p:sp>
        <p:nvSpPr>
          <p:cNvPr id="13" name="Text 10"/>
          <p:cNvSpPr/>
          <p:nvPr/>
        </p:nvSpPr>
        <p:spPr>
          <a:xfrm>
            <a:off x="7822905" y="3293566"/>
            <a:ext cx="3581410" cy="1292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Merge Sort is stable when equal elements keep their original relative order.</a:t>
            </a:r>
            <a:endParaRPr lang="en-US" sz="16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Standard array-based Merge Sort is generally not in-place.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TRADE-OFFS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Merge Sort trades extra memory for predictability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923355"/>
            <a:ext cx="5486263" cy="2580977"/>
          </a:xfrm>
          <a:custGeom>
            <a:avLst/>
            <a:gdLst/>
            <a:ahLst/>
            <a:cxnLst/>
            <a:rect l="l" t="t" r="r" b="b"/>
            <a:pathLst>
              <a:path w="5486263" h="2580977">
                <a:moveTo>
                  <a:pt x="152396" y="0"/>
                </a:moveTo>
                <a:lnTo>
                  <a:pt x="5486263" y="0"/>
                </a:lnTo>
                <a:lnTo>
                  <a:pt x="5486263" y="2580977"/>
                </a:lnTo>
                <a:lnTo>
                  <a:pt x="152396" y="2580977"/>
                </a:lnTo>
                <a:arcTo wR="152396" hR="152400" stAng="5400000" swAng="5400000"/>
                <a:lnTo>
                  <a:pt x="0" y="152400"/>
                </a:lnTo>
                <a:arcTo wR="152396" hR="152400" stAng="10800000" swAng="5400000"/>
                <a:close/>
              </a:path>
            </a:pathLst>
          </a:custGeom>
          <a:solidFill>
            <a:srgbClr val="0D0620"/>
          </a:solidFill>
          <a:ln/>
        </p:spPr>
      </p:sp>
      <p:sp>
        <p:nvSpPr>
          <p:cNvPr id="5" name="Text 3"/>
          <p:cNvSpPr/>
          <p:nvPr/>
        </p:nvSpPr>
        <p:spPr>
          <a:xfrm>
            <a:off x="888978" y="2213339"/>
            <a:ext cx="492747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88978" y="2650430"/>
            <a:ext cx="4927477" cy="133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Predictable O(n log n) performance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Stable when implemented correctly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Useful for large datasets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Works well for linked lists and external sorting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5848" y="1923355"/>
            <a:ext cx="5486263" cy="2580977"/>
          </a:xfrm>
          <a:custGeom>
            <a:avLst/>
            <a:gdLst/>
            <a:ahLst/>
            <a:cxnLst/>
            <a:rect l="l" t="t" r="r" b="b"/>
            <a:pathLst>
              <a:path w="5486263" h="2580977">
                <a:moveTo>
                  <a:pt x="0" y="0"/>
                </a:moveTo>
                <a:lnTo>
                  <a:pt x="5333867" y="0"/>
                </a:lnTo>
                <a:arcTo wR="152396" hR="152400" stAng="16200000" swAng="5400000"/>
                <a:lnTo>
                  <a:pt x="5486263" y="2428577"/>
                </a:lnTo>
                <a:arcTo wR="152396" hR="152400" stAng="0" swAng="5400000"/>
                <a:lnTo>
                  <a:pt x="0" y="2580977"/>
                </a:lnTo>
                <a:lnTo>
                  <a:pt x="0" y="0"/>
                </a:lnTo>
                <a:close/>
              </a:path>
            </a:pathLst>
          </a:custGeom>
          <a:solidFill>
            <a:srgbClr val="4F4086"/>
          </a:solidFill>
          <a:ln/>
        </p:spPr>
      </p:sp>
      <p:sp>
        <p:nvSpPr>
          <p:cNvPr id="8" name="Text 6"/>
          <p:cNvSpPr/>
          <p:nvPr/>
        </p:nvSpPr>
        <p:spPr>
          <a:xfrm>
            <a:off x="6375241" y="2213339"/>
            <a:ext cx="492747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Limitations and applications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75241" y="2650430"/>
            <a:ext cx="4927477" cy="1574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Standard arrays need extra memory.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Small arrays may see more overhead than simpler methods.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Applications: large datasets, linked lists, external sorting, and stability-sensitive records.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9498" y="1923355"/>
            <a:ext cx="12700" cy="2580977"/>
          </a:xfrm>
          <a:prstGeom prst="rect">
            <a:avLst/>
          </a:prstGeom>
          <a:solidFill>
            <a:srgbClr val="1E0E3F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7855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26" dirty="0">
                <a:solidFill>
                  <a:srgbClr val="B796C6"/>
                </a:solidFill>
                <a:latin typeface="Ysabeau Office Medium" pitchFamily="34" charset="0"/>
                <a:ea typeface="Ysabeau Office Medium" pitchFamily="34" charset="-122"/>
                <a:cs typeface="Ysabeau Office Medium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32160"/>
            <a:ext cx="1097252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kern="100" spc="8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Merge Sort is structured, stable, and dependable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2956223"/>
            <a:ext cx="5943451" cy="3901777"/>
          </a:xfrm>
          <a:prstGeom prst="rect">
            <a:avLst/>
          </a:prstGeom>
          <a:solidFill>
            <a:srgbClr val="0D0620"/>
          </a:solidFill>
          <a:ln/>
        </p:spPr>
      </p:sp>
      <p:sp>
        <p:nvSpPr>
          <p:cNvPr id="5" name="Text 3"/>
          <p:cNvSpPr/>
          <p:nvPr/>
        </p:nvSpPr>
        <p:spPr>
          <a:xfrm>
            <a:off x="253994" y="3220806"/>
            <a:ext cx="54354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FFFFF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Remember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53994" y="3657898"/>
            <a:ext cx="5435464" cy="1625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It uses Divide and Conquer.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It divides, recursively sorts, and merges.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Best, average, and worst cases are O(n log n).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FFFFF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It is stable when implemented correctly, but standard arrays need extra memory.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4" y="5461000"/>
            <a:ext cx="1142971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02237" y="3270520"/>
            <a:ext cx="5435464" cy="746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6502237" y="4145326"/>
            <a:ext cx="54354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Any Questions?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502237" y="4631630"/>
            <a:ext cx="5435464" cy="31651"/>
          </a:xfrm>
          <a:prstGeom prst="roundRect">
            <a:avLst>
              <a:gd name="adj" fmla="val 49998"/>
            </a:avLst>
          </a:prstGeom>
          <a:solidFill>
            <a:srgbClr val="1E0E3F"/>
          </a:solidFill>
          <a:ln/>
        </p:spPr>
      </p:sp>
      <p:sp>
        <p:nvSpPr>
          <p:cNvPr id="11" name="Text 8"/>
          <p:cNvSpPr/>
          <p:nvPr/>
        </p:nvSpPr>
        <p:spPr>
          <a:xfrm>
            <a:off x="6502237" y="5059726"/>
            <a:ext cx="543546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10" dirty="0">
                <a:solidFill>
                  <a:srgbClr val="F1E9F6"/>
                </a:solidFill>
                <a:latin typeface="Ysabeau Office SemiBold" pitchFamily="34" charset="0"/>
                <a:ea typeface="Ysabeau Office SemiBold" pitchFamily="34" charset="-122"/>
                <a:cs typeface="Ysabeau Office SemiBold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502237" y="5496818"/>
            <a:ext cx="5435464" cy="985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Thomas H. Cormen et al., </a:t>
            </a:r>
            <a:r>
              <a:rPr lang="en-US" sz="1600" i="1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Introduction to Algorithms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GeeksforGeeks, “Merge Sort”</a:t>
            </a:r>
            <a:endParaRPr lang="en-US" sz="1600" dirty="0"/>
          </a:p>
          <a:p>
            <a:pPr marL="325120" indent="-325120" algn="l">
              <a:lnSpc>
                <a:spcPct val="121000"/>
              </a:lnSpc>
              <a:buSzPct val="100000"/>
              <a:buChar char="•"/>
            </a:pPr>
            <a:r>
              <a:rPr lang="en-US" sz="1600" kern="100" spc="8" dirty="0">
                <a:solidFill>
                  <a:srgbClr val="F1E9F6"/>
                </a:solidFill>
                <a:latin typeface="Ysabeau Office" pitchFamily="34" charset="0"/>
                <a:ea typeface="Ysabeau Office" pitchFamily="34" charset="-122"/>
                <a:cs typeface="Ysabeau Office" pitchFamily="34" charset="-120"/>
              </a:rPr>
              <a:t>MIT OpenCourseWare, “Algorithms”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</Words>
  <Application>Microsoft Office PowerPoint</Application>
  <PresentationFormat>Widescreen</PresentationFormat>
  <Paragraphs>150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Ysabeau Office Medium</vt:lpstr>
      <vt:lpstr>Consolas</vt:lpstr>
      <vt:lpstr>Unbounded Light</vt:lpstr>
      <vt:lpstr>Ysabeau Office SemiBold</vt:lpstr>
      <vt:lpstr>Ysabeau Office</vt:lpstr>
      <vt:lpstr>Arial</vt:lpstr>
      <vt:lpstr>Ysabeau Office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pavit</dc:creator>
  <cp:lastModifiedBy>pavitrapathak@outlook.com</cp:lastModifiedBy>
  <cp:revision>2</cp:revision>
  <dcterms:created xsi:type="dcterms:W3CDTF">2026-10-19T17:31:13Z</dcterms:created>
  <dcterms:modified xsi:type="dcterms:W3CDTF">2026-10-20T09:17:05Z</dcterms:modified>
</cp:coreProperties>
</file>